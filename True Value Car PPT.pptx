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7" r:id="rId6"/>
    <p:sldId id="266" r:id="rId7"/>
    <p:sldId id="265" r:id="rId8"/>
    <p:sldId id="264" r:id="rId9"/>
    <p:sldId id="263" r:id="rId10"/>
    <p:sldId id="262" r:id="rId11"/>
    <p:sldId id="261" r:id="rId12"/>
    <p:sldId id="260" r:id="rId13"/>
    <p:sldId id="259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731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80851" y="3681785"/>
            <a:ext cx="617465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altLang="en-IN" sz="3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Value Car Analysis</a:t>
            </a:r>
            <a:endParaRPr lang="en-US" altLang="en-IN" sz="32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505700" y="482028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Manikanta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Vaibhav Kiran Reddy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78740" y="1962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 rtl="0" fontAlgn="base">
              <a:spcBef>
                <a:spcPts val="1000"/>
              </a:spcBef>
              <a:buFont typeface="+mj-lt"/>
              <a:buNone/>
            </a:pP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Orginal True Value Car Dataset</a:t>
            </a:r>
            <a:endParaRPr lang="en-US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" y="887095"/>
            <a:ext cx="10586085" cy="52108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8740" y="104711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rtl="0" fontAlgn="base">
              <a:spcBef>
                <a:spcPts val="1000"/>
              </a:spcBef>
              <a:buFont typeface="+mj-lt"/>
              <a:buAutoNum type="arabicPeriod"/>
            </a:pPr>
            <a:r>
              <a:rPr lang="en-US" sz="3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Cleaning Steps 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endParaRPr 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751455" y="85725"/>
            <a:ext cx="69481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rtl="0" fontAlgn="base">
              <a:spcBef>
                <a:spcPts val="1000"/>
              </a:spcBef>
            </a:pPr>
            <a:r>
              <a:rPr lang="en-US" sz="40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Exploratory Data Analysis: </a:t>
            </a:r>
            <a:endParaRPr lang="en-US" sz="4000" b="1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18135" y="1879600"/>
            <a:ext cx="1058799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Loaded the dataset using Pandas (5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95</a:t>
            </a: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rows ×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columns).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Checked dataset structure using info(), head(), and dtypes.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Identified missing and inconsistent data using isnull().sum().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Removed spaces extra characters from Kms Driven and Price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Replaced missing values using mode (categorical) and mean (numerical).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Rechecked dataset to ensure all missing values were handled.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Prepared cleaned dataset for Data Manipulation.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8580" y="21399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rtl="0" fontAlgn="base">
              <a:spcBef>
                <a:spcPts val="1000"/>
              </a:spcBef>
            </a:pPr>
            <a:r>
              <a:rPr lang="en-US" sz="3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2.Data Manipulation Steps</a:t>
            </a:r>
            <a:endParaRPr lang="en-US" sz="36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71805" y="814705"/>
            <a:ext cx="11448415" cy="55232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Removed unwanted characters, symbols, and spaces from columns like KMS Driven and Price for consistency.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Location values using forward fill and replaced missing Emi values with the column mean.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Type Conversion: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Converted Emi column to integer type for numerical processing.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Outlier Treatment: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Detected and capped outliers in Emi using the IQR (Interquartile Range) method.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features – Car Condition (based on kilometers) and Age (based on manufacturing year).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Column Removal: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Dropped the unnecessary Radius column to simplify the dataset.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65100" y="1752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 rtl="0" fontAlgn="base">
              <a:spcBef>
                <a:spcPts val="1000"/>
              </a:spcBef>
              <a:buFont typeface="+mj-lt"/>
              <a:buNone/>
            </a:pP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Modify True Value Car Dataset</a:t>
            </a:r>
            <a:endParaRPr lang="en-US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14655" y="868045"/>
            <a:ext cx="10344150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07315" y="129540"/>
            <a:ext cx="6096000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/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3. </a:t>
            </a:r>
            <a:r>
              <a:rPr sz="3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Univariate Analysis  Steps</a:t>
            </a:r>
            <a:endParaRPr lang="en-US" sz="35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" y="1443355"/>
            <a:ext cx="4476750" cy="39509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90" y="1570990"/>
            <a:ext cx="6899910" cy="38233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736080" y="5416867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b="1" i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</a:rPr>
              <a:t>Wagon R VXI is the Most frequnt Model seen in the sale</a:t>
            </a:r>
            <a:endParaRPr b="1" i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18135" y="5459412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en-US" b="1" i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</a:rPr>
              <a:t>The highest used Fuel is Petrol and least is Diesel &amp; CNG</a:t>
            </a:r>
            <a:endParaRPr lang="en-US" altLang="en-US" b="1" i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43230" y="82423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Fuel Type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539230" y="89471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Top 10 Models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" y="865505"/>
            <a:ext cx="5728335" cy="41255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989965"/>
            <a:ext cx="5253990" cy="40589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27215" y="540480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b="1" i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</a:rPr>
              <a:t>Most Cars are in Fare Condition</a:t>
            </a:r>
            <a:endParaRPr b="1" i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62280" y="54051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The highest Manufacturing Cars in the Year of 2022, 2017, 2015, 2018 and least in the Years 2009, 2024, 2011,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99720" y="4972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sz="2000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Distribution Of Cars by Year of Manufaturing</a:t>
            </a:r>
            <a:endParaRPr lang="en-US" altLang="en-US" sz="2000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558280" y="4972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sz="2000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Count of Cars based on Condition</a:t>
            </a:r>
            <a:endParaRPr lang="en-US" altLang="en-US" sz="2000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" y="1148715"/>
            <a:ext cx="6200775" cy="38944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5" y="1148715"/>
            <a:ext cx="5514975" cy="38944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551930" y="5310505"/>
            <a:ext cx="551561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b="1" i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</a:rPr>
              <a:t>Most of The EMI Ranges in between 10000 And 12000</a:t>
            </a:r>
            <a:endParaRPr b="1" i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566545" y="5310505"/>
            <a:ext cx="3328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Most car Ages are 3, 8, 10 Years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31265" y="482600"/>
            <a:ext cx="34239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sz="2000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Distribution Of Car Ages</a:t>
            </a:r>
            <a:endParaRPr lang="en-US" altLang="en-US" sz="2000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399020" y="482600"/>
            <a:ext cx="36449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sz="2000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Distribution Of EMI</a:t>
            </a:r>
            <a:endParaRPr lang="en-US" altLang="en-US" sz="2000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9690" y="17970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fontAlgn="base">
              <a:spcBef>
                <a:spcPts val="1000"/>
              </a:spcBef>
              <a:spcAft>
                <a:spcPct val="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4.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Bivariate Analysis  Steps 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" y="1385570"/>
            <a:ext cx="5938520" cy="34791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810" y="1236980"/>
            <a:ext cx="6202045" cy="39503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112000" y="532923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b="1" i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</a:rPr>
              <a:t>This Cars are best According to Low Prices</a:t>
            </a:r>
            <a:endParaRPr b="1" i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760" y="53295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(Ertiga ZXI CNG, Alto K10 VXI+, Eeco CNG 5-STR, Eeco STD 7-STR) This Cars are Best according to their ages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82650" y="785495"/>
            <a:ext cx="40278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Top 15 Cars According to There Ages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112000" y="514985"/>
            <a:ext cx="36893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sz="2000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Top 5 lowest Price Models</a:t>
            </a:r>
            <a:endParaRPr lang="en-US" altLang="en-US" sz="2000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" y="1196975"/>
            <a:ext cx="6000115" cy="38836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395" y="1279525"/>
            <a:ext cx="5499735" cy="37191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65315" y="5330507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b="1" i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</a:rPr>
              <a:t>The best car condition between 2022 and 2024</a:t>
            </a:r>
            <a:endParaRPr b="1" i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77265" y="5330190"/>
            <a:ext cx="38169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This Cars are Most Expensive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77265" y="483235"/>
            <a:ext cx="3327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Top 5 highest Price Models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949315" y="40957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sz="2000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Condition Of Car With Respective To Manufacturing Year</a:t>
            </a:r>
            <a:endParaRPr lang="en-US" altLang="en-US" sz="2000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1232535"/>
            <a:ext cx="6429375" cy="36118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465" y="1232535"/>
            <a:ext cx="5667375" cy="36722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74840" y="4905057"/>
            <a:ext cx="5080000" cy="92202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b="1" i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</a:rPr>
              <a:t>AS kms Driven increases, Price decreases and the most cars are between 0 to 150,000km and 2 t0 10 lakhs.</a:t>
            </a:r>
            <a:endParaRPr b="1" i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48005" y="518160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Cars manufactured in 2010 have the lowest prices, while those from 2024 have the highest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91465" y="6438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Price Of Cars With Respective To Year Of Manufacturing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852920" y="643890"/>
            <a:ext cx="45256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Relation Between KMS Driven and Price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" y="1057275"/>
            <a:ext cx="5911850" cy="42500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955" y="1057275"/>
            <a:ext cx="6202045" cy="40195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889750" y="5201602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b="1" i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</a:rPr>
              <a:t>This Car Models with the lowest Kilometers Traveled</a:t>
            </a:r>
            <a:endParaRPr b="1" i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53415" y="5605145"/>
            <a:ext cx="44773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Cars in Mumbai are in the best condition</a:t>
            </a:r>
            <a:endParaRPr lang="en-US" altLang="en-US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53415" y="391160"/>
            <a:ext cx="5033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sz="2000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Car Condition Across Different Cities</a:t>
            </a:r>
            <a:endParaRPr lang="en-US" altLang="en-US" sz="2000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727190" y="391160"/>
            <a:ext cx="52425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/>
            <a:r>
              <a:rPr lang="en-US" altLang="en-US" sz="2000" b="1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Top 10 models with the least kilometers driven</a:t>
            </a:r>
            <a:endParaRPr lang="en-US" altLang="en-US" sz="2000" b="1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8265" y="1962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Aft>
                <a:spcPct val="60000"/>
              </a:spcAft>
            </a:pPr>
            <a:r>
              <a:rPr lang="en-US" sz="3200" b="1" dirty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5. </a:t>
            </a:r>
            <a:r>
              <a:rPr sz="3200" b="1" dirty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Multivariate </a:t>
            </a:r>
            <a:r>
              <a:rPr lang="en-US" sz="3200" b="1" dirty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  <a:sym typeface="+mn-ea"/>
              </a:rPr>
              <a:t>Analysis Step</a:t>
            </a:r>
            <a:endParaRPr lang="en-US" sz="3200" b="1" dirty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0" y="1524635"/>
            <a:ext cx="9173845" cy="418909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422400" y="5713730"/>
            <a:ext cx="701421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b="1" i="0">
                <a:latin typeface="Times New Roman" panose="02020603050405020304" pitchFamily="18" charset="0"/>
                <a:ea typeface="system-ui"/>
                <a:cs typeface="Times New Roman" panose="02020603050405020304" pitchFamily="18" charset="0"/>
              </a:rPr>
              <a:t> Most low-priced cars under ₹2 lakh with less than 40,000 km driven are petrol models, where Alto and Zen Estilo variants show better resale value compared to others</a:t>
            </a:r>
            <a:endParaRPr b="1" i="0">
              <a:latin typeface="Times New Roman" panose="02020603050405020304" pitchFamily="18" charset="0"/>
              <a:ea typeface="system-ui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16560" y="890905"/>
            <a:ext cx="113582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Car Models by Fuel Type Under 2lakhs and Travelled Below 40000Km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771525"/>
            <a:ext cx="8665845" cy="54000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94970" y="30607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Between All Numerical Columns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03835" y="34544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Summary 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1645" y="1233805"/>
            <a:ext cx="9582150" cy="4530090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from Maruti True Value (595×8).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– removed symbols, filled missing values.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Manipulated Data – fixed outliers, added Car Condition &amp; Age.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– most cars are Petrol, Wagon R VXI common, EMI ₹10k–₹12k.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Bivariate – higher KMs → lower price; Mumbai cars in better condition.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– low-price cars (&lt;₹2L, &lt;40k km) mostly Petrol; correlations studied.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688" y="6098632"/>
            <a:ext cx="3755312" cy="759368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199515" y="2404110"/>
            <a:ext cx="6096000" cy="1876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 </a:t>
            </a:r>
            <a:b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4400" dirty="0">
                <a:ln>
                  <a:noFill/>
                </a:ln>
                <a:solidFill>
                  <a:srgbClr val="C00000"/>
                </a:solidFill>
                <a:effectLst/>
                <a:latin typeface="Libre Baskerville" panose="020F0502020204030204" pitchFamily="2" charset="0"/>
                <a:sym typeface="+mn-ea"/>
              </a:rPr>
              <a:t>THANK YOU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</a:br>
            <a:endParaRPr lang="en-US" altLang="en-US" dirty="0">
              <a:ln>
                <a:noFill/>
              </a:ln>
              <a:effectLst/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45" y="1568797"/>
            <a:ext cx="5861040" cy="371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3338</Words>
  <Application>WPS Presentation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Calibri</vt:lpstr>
      <vt:lpstr>system-ui</vt:lpstr>
      <vt:lpstr>Segoe Print</vt:lpstr>
      <vt:lpstr>Libre Baskerville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ELAPROLU VENKAT</dc:creator>
  <cp:lastModifiedBy>VENKY EELAPROLU</cp:lastModifiedBy>
  <cp:revision>5</cp:revision>
  <dcterms:created xsi:type="dcterms:W3CDTF">2025-07-23T00:59:00Z</dcterms:created>
  <dcterms:modified xsi:type="dcterms:W3CDTF">2025-11-09T12:38:28Z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F348BC46334240D4A881FB8ED02BD11B_11</vt:lpwstr>
  </property>
  <property fmtid="{D5CDD505-2E9C-101B-9397-08002B2CF9AE}" pid="3" name="KSOProductBuildVer">
    <vt:lpwstr>1033-12.2.0.23155</vt:lpwstr>
  </property>
</Properties>
</file>